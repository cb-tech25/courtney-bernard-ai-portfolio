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  <p:sldMasterId id="214748369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DM Sans" pitchFamily="2" charset="0"/>
      <p:regular r:id="rId16"/>
      <p:bold r:id="rId17"/>
      <p:italic r:id="rId18"/>
      <p:boldItalic r:id="rId19"/>
    </p:embeddedFont>
    <p:embeddedFont>
      <p:font typeface="DM Sans Medium" pitchFamily="2" charset="0"/>
      <p:regular r:id="rId20"/>
      <p:bold r:id="rId21"/>
      <p:italic r:id="rId22"/>
      <p:boldItalic r:id="rId23"/>
    </p:embeddedFont>
    <p:embeddedFont>
      <p:font typeface="Merriweather" panose="00000500000000000000" pitchFamily="2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FAC101-5DF5-4D13-94E7-413F23D95547}">
  <a:tblStyle styleId="{CEFAC101-5DF5-4D13-94E7-413F23D955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8f1435801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88f1435801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8f1435801_0_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88f1435801_0_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8f1435801_0_1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88f1435801_0_1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88f1435801_0_7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88f1435801_0_7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88f1435801_0_1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88f1435801_0_1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88f1435801_0_1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88f1435801_0_1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88f1435801_0_1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88f1435801_0_1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88f1435801_0_1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88f1435801_0_1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88f1435801_0_1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88f1435801_0_1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88f1435801_0_1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88f1435801_0_1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88f1435801_0_1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88f1435801_0_1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88f1435801_0_1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88f1435801_0_1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28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29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29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29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5" name="Google Shape;135;p29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2" name="Google Shape;142;p31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5" name="Google Shape;145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8" name="Google Shape;148;p31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1" name="Google Shape;151;p32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4" name="Google Shape;154;p32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2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9" name="Google Shape;159;p32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0" name="Google Shape;160;p32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4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>
            <a:spLocks noGrp="1"/>
          </p:cNvSpPr>
          <p:nvPr>
            <p:ph type="body" idx="1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35"/>
          <p:cNvSpPr txBox="1">
            <a:spLocks noGrp="1"/>
          </p:cNvSpPr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35"/>
          <p:cNvSpPr txBox="1">
            <a:spLocks noGrp="1"/>
          </p:cNvSpPr>
          <p:nvPr>
            <p:ph type="subTitle" idx="2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35"/>
          <p:cNvSpPr>
            <a:spLocks noGrp="1"/>
          </p:cNvSpPr>
          <p:nvPr>
            <p:ph type="pic" idx="3"/>
          </p:nvPr>
        </p:nvSpPr>
        <p:spPr>
          <a:xfrm>
            <a:off x="4437578" y="2171250"/>
            <a:ext cx="4509600" cy="27756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81" name="Google Shape;181;p35"/>
          <p:cNvSpPr txBox="1">
            <a:spLocks noGrp="1"/>
          </p:cNvSpPr>
          <p:nvPr>
            <p:ph type="body" idx="4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number" type="secHead">
  <p:cSld name="SECTION_HEADER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>
            <a:spLocks noGrp="1"/>
          </p:cNvSpPr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4" name="Google Shape;184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6"/>
          <p:cNvSpPr txBox="1">
            <a:spLocks noGrp="1"/>
          </p:cNvSpPr>
          <p:nvPr>
            <p:ph type="title" idx="2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6" name="Google Shape;186;p36"/>
          <p:cNvSpPr txBox="1">
            <a:spLocks noGrp="1"/>
          </p:cNvSpPr>
          <p:nvPr>
            <p:ph type="title" idx="3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7" name="Google Shape;187;p36"/>
          <p:cNvSpPr txBox="1">
            <a:spLocks noGrp="1"/>
          </p:cNvSpPr>
          <p:nvPr>
            <p:ph type="title" idx="4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8" name="Google Shape;188;p36"/>
          <p:cNvSpPr txBox="1">
            <a:spLocks noGrp="1"/>
          </p:cNvSpPr>
          <p:nvPr>
            <p:ph type="title" idx="5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9" name="Google Shape;189;p36"/>
          <p:cNvSpPr txBox="1">
            <a:spLocks noGrp="1"/>
          </p:cNvSpPr>
          <p:nvPr>
            <p:ph type="body" idx="1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36"/>
          <p:cNvSpPr txBox="1">
            <a:spLocks noGrp="1"/>
          </p:cNvSpPr>
          <p:nvPr>
            <p:ph type="body" idx="6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 type="tx">
  <p:cSld name="TITLE_AND_BODY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7"/>
          <p:cNvSpPr txBox="1">
            <a:spLocks noGrp="1"/>
          </p:cNvSpPr>
          <p:nvPr>
            <p:ph type="subTitle" idx="1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194" name="Google Shape;194;p37"/>
          <p:cNvSpPr txBox="1">
            <a:spLocks noGrp="1"/>
          </p:cNvSpPr>
          <p:nvPr>
            <p:ph type="body" idx="2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37"/>
          <p:cNvSpPr txBox="1">
            <a:spLocks noGrp="1"/>
          </p:cNvSpPr>
          <p:nvPr>
            <p:ph type="body" idx="3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TITLE_AND_BODY_1">
    <p:bg>
      <p:bgPr>
        <a:solidFill>
          <a:schemeClr val="dk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>
            <a:spLocks noGrp="1"/>
          </p:cNvSpPr>
          <p:nvPr>
            <p:ph type="subTitle" idx="1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199" name="Google Shape;199;p38"/>
          <p:cNvSpPr txBox="1">
            <a:spLocks noGrp="1"/>
          </p:cNvSpPr>
          <p:nvPr>
            <p:ph type="body" idx="2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38"/>
          <p:cNvSpPr txBox="1">
            <a:spLocks noGrp="1"/>
          </p:cNvSpPr>
          <p:nvPr>
            <p:ph type="body" idx="3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1" type="twoColTx">
  <p:cSld name="TITLE_AND_TWO_COLUMNS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>
            <a:spLocks noGrp="1"/>
          </p:cNvSpPr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39"/>
          <p:cNvSpPr txBox="1">
            <a:spLocks noGrp="1"/>
          </p:cNvSpPr>
          <p:nvPr>
            <p:ph type="body" idx="1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9"/>
          <p:cNvSpPr>
            <a:spLocks noGrp="1"/>
          </p:cNvSpPr>
          <p:nvPr>
            <p:ph type="pic" idx="2"/>
          </p:nvPr>
        </p:nvSpPr>
        <p:spPr>
          <a:xfrm>
            <a:off x="3726325" y="669925"/>
            <a:ext cx="5220900" cy="42768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206" name="Google Shape;206;p39"/>
          <p:cNvSpPr txBox="1">
            <a:spLocks noGrp="1"/>
          </p:cNvSpPr>
          <p:nvPr>
            <p:ph type="body" idx="3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7" name="Google Shape;207;p39"/>
          <p:cNvSpPr txBox="1">
            <a:spLocks noGrp="1"/>
          </p:cNvSpPr>
          <p:nvPr>
            <p:ph type="body" idx="4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2">
  <p:cSld name="TITLE_AND_TWO_COLUMNS_1">
    <p:bg>
      <p:bgPr>
        <a:solidFill>
          <a:schemeClr val="dk1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>
            <a:spLocks noGrp="1"/>
          </p:cNvSpPr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40"/>
          <p:cNvSpPr txBox="1">
            <a:spLocks noGrp="1"/>
          </p:cNvSpPr>
          <p:nvPr>
            <p:ph type="body" idx="1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>
            <a:spLocks noGrp="1"/>
          </p:cNvSpPr>
          <p:nvPr>
            <p:ph type="pic" idx="2"/>
          </p:nvPr>
        </p:nvSpPr>
        <p:spPr>
          <a:xfrm>
            <a:off x="3726325" y="669925"/>
            <a:ext cx="5220900" cy="42768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213" name="Google Shape;213;p40"/>
          <p:cNvSpPr txBox="1">
            <a:spLocks noGrp="1"/>
          </p:cNvSpPr>
          <p:nvPr>
            <p:ph type="body" idx="3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40"/>
          <p:cNvSpPr txBox="1">
            <a:spLocks noGrp="1"/>
          </p:cNvSpPr>
          <p:nvPr>
            <p:ph type="body" idx="4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40"/>
          <p:cNvSpPr txBox="1">
            <a:spLocks noGrp="1"/>
          </p:cNvSpPr>
          <p:nvPr>
            <p:ph type="sldNum" idx="5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chart">
  <p:cSld name="SECTION_TITLE_AND_DESCRIPTION">
    <p:bg>
      <p:bgPr>
        <a:solidFill>
          <a:schemeClr val="lt2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41"/>
          <p:cNvSpPr txBox="1">
            <a:spLocks noGrp="1"/>
          </p:cNvSpPr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0" name="Google Shape;220;p41"/>
          <p:cNvSpPr txBox="1">
            <a:spLocks noGrp="1"/>
          </p:cNvSpPr>
          <p:nvPr>
            <p:ph type="body" idx="1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1" name="Google Shape;221;p41"/>
          <p:cNvSpPr txBox="1">
            <a:spLocks noGrp="1"/>
          </p:cNvSpPr>
          <p:nvPr>
            <p:ph type="body" idx="2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22" name="Google Shape;222;p41"/>
          <p:cNvSpPr txBox="1">
            <a:spLocks noGrp="1"/>
          </p:cNvSpPr>
          <p:nvPr>
            <p:ph type="body" idx="3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ppendix">
  <p:cSld name="CAPTION_ONLY">
    <p:bg>
      <p:bgPr>
        <a:solidFill>
          <a:schemeClr val="lt2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2"/>
          <p:cNvSpPr txBox="1">
            <a:spLocks noGrp="1"/>
          </p:cNvSpPr>
          <p:nvPr>
            <p:ph type="body" idx="1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26" name="Google Shape;226;p42"/>
          <p:cNvSpPr txBox="1">
            <a:spLocks noGrp="1"/>
          </p:cNvSpPr>
          <p:nvPr>
            <p:ph type="body" idx="2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27" name="Google Shape;227;p42"/>
          <p:cNvSpPr txBox="1">
            <a:spLocks noGrp="1"/>
          </p:cNvSpPr>
          <p:nvPr>
            <p:ph type="body" idx="3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28" name="Google Shape;228;p42"/>
          <p:cNvSpPr txBox="1">
            <a:spLocks noGrp="1"/>
          </p:cNvSpPr>
          <p:nvPr>
            <p:ph type="body" idx="4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29" name="Google Shape;229;p42"/>
          <p:cNvSpPr txBox="1">
            <a:spLocks noGrp="1"/>
          </p:cNvSpPr>
          <p:nvPr>
            <p:ph type="body" idx="5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30" name="Google Shape;230;p42"/>
          <p:cNvSpPr txBox="1">
            <a:spLocks noGrp="1"/>
          </p:cNvSpPr>
          <p:nvPr>
            <p:ph type="body" idx="6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31" name="Google Shape;231;p42"/>
          <p:cNvSpPr txBox="1">
            <a:spLocks noGrp="1"/>
          </p:cNvSpPr>
          <p:nvPr>
            <p:ph type="body" idx="7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32" name="Google Shape;232;p42"/>
          <p:cNvSpPr txBox="1">
            <a:spLocks noGrp="1"/>
          </p:cNvSpPr>
          <p:nvPr>
            <p:ph type="body" idx="8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33" name="Google Shape;233;p42"/>
          <p:cNvSpPr txBox="1">
            <a:spLocks noGrp="1"/>
          </p:cNvSpPr>
          <p:nvPr>
            <p:ph type="body" idx="9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34" name="Google Shape;234;p42"/>
          <p:cNvSpPr txBox="1">
            <a:spLocks noGrp="1"/>
          </p:cNvSpPr>
          <p:nvPr>
            <p:ph type="body" idx="13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35" name="Google Shape;235;p42"/>
          <p:cNvSpPr txBox="1">
            <a:spLocks noGrp="1"/>
          </p:cNvSpPr>
          <p:nvPr>
            <p:ph type="body" idx="14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36" name="Google Shape;236;p42"/>
          <p:cNvSpPr txBox="1">
            <a:spLocks noGrp="1"/>
          </p:cNvSpPr>
          <p:nvPr>
            <p:ph type="body" idx="15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37" name="Google Shape;237;p42"/>
          <p:cNvSpPr txBox="1">
            <a:spLocks noGrp="1"/>
          </p:cNvSpPr>
          <p:nvPr>
            <p:ph type="body" idx="16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38" name="Google Shape;238;p42"/>
          <p:cNvSpPr txBox="1">
            <a:spLocks noGrp="1"/>
          </p:cNvSpPr>
          <p:nvPr>
            <p:ph type="body" idx="17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39" name="Google Shape;239;p42"/>
          <p:cNvSpPr txBox="1">
            <a:spLocks noGrp="1"/>
          </p:cNvSpPr>
          <p:nvPr>
            <p:ph type="body" idx="18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40" name="Google Shape;240;p42"/>
          <p:cNvSpPr txBox="1">
            <a:spLocks noGrp="1"/>
          </p:cNvSpPr>
          <p:nvPr>
            <p:ph type="body" idx="19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41" name="Google Shape;241;p42"/>
          <p:cNvSpPr txBox="1">
            <a:spLocks noGrp="1"/>
          </p:cNvSpPr>
          <p:nvPr>
            <p:ph type="body" idx="20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42" name="Google Shape;242;p42"/>
          <p:cNvSpPr txBox="1">
            <a:spLocks noGrp="1"/>
          </p:cNvSpPr>
          <p:nvPr>
            <p:ph type="body" idx="21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43" name="Google Shape;243;p42"/>
          <p:cNvSpPr txBox="1">
            <a:spLocks noGrp="1"/>
          </p:cNvSpPr>
          <p:nvPr>
            <p:ph type="body" idx="22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44" name="Google Shape;244;p42"/>
          <p:cNvSpPr txBox="1">
            <a:spLocks noGrp="1"/>
          </p:cNvSpPr>
          <p:nvPr>
            <p:ph type="body" idx="23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45" name="Google Shape;245;p42"/>
          <p:cNvSpPr txBox="1">
            <a:spLocks noGrp="1"/>
          </p:cNvSpPr>
          <p:nvPr>
            <p:ph type="body" idx="24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46" name="Google Shape;246;p42"/>
          <p:cNvSpPr txBox="1">
            <a:spLocks noGrp="1"/>
          </p:cNvSpPr>
          <p:nvPr>
            <p:ph type="body" idx="25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47" name="Google Shape;247;p42"/>
          <p:cNvSpPr txBox="1">
            <a:spLocks noGrp="1"/>
          </p:cNvSpPr>
          <p:nvPr>
            <p:ph type="body" idx="26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48" name="Google Shape;248;p42"/>
          <p:cNvSpPr txBox="1">
            <a:spLocks noGrp="1"/>
          </p:cNvSpPr>
          <p:nvPr>
            <p:ph type="body" idx="27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49" name="Google Shape;249;p42"/>
          <p:cNvSpPr txBox="1">
            <a:spLocks noGrp="1"/>
          </p:cNvSpPr>
          <p:nvPr>
            <p:ph type="body" idx="28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50" name="Google Shape;250;p42"/>
          <p:cNvSpPr txBox="1">
            <a:spLocks noGrp="1"/>
          </p:cNvSpPr>
          <p:nvPr>
            <p:ph type="body" idx="29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51" name="Google Shape;251;p42"/>
          <p:cNvSpPr txBox="1">
            <a:spLocks noGrp="1"/>
          </p:cNvSpPr>
          <p:nvPr>
            <p:ph type="body" idx="30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52" name="Google Shape;252;p42"/>
          <p:cNvSpPr txBox="1">
            <a:spLocks noGrp="1"/>
          </p:cNvSpPr>
          <p:nvPr>
            <p:ph type="body" idx="31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53" name="Google Shape;253;p42"/>
          <p:cNvSpPr txBox="1">
            <a:spLocks noGrp="1"/>
          </p:cNvSpPr>
          <p:nvPr>
            <p:ph type="body" idx="32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lank">
  <p:cSld name="CUSTOM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3"/>
          <p:cNvSpPr txBox="1">
            <a:spLocks noGrp="1"/>
          </p:cNvSpPr>
          <p:nvPr>
            <p:ph type="body" idx="1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7" name="Google Shape;257;p43"/>
          <p:cNvSpPr txBox="1">
            <a:spLocks noGrp="1"/>
          </p:cNvSpPr>
          <p:nvPr>
            <p:ph type="body" idx="2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A02a_Group_5_Marvin_Azuogu_Courtney_Bernard_joseph_Hiller__ITA2376_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>
            <a:spLocks noGrp="1"/>
          </p:cNvSpPr>
          <p:nvPr>
            <p:ph type="body" idx="4"/>
          </p:nvPr>
        </p:nvSpPr>
        <p:spPr>
          <a:xfrm>
            <a:off x="8208751" y="196725"/>
            <a:ext cx="8124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MM.DD.YY</a:t>
            </a:r>
            <a:endParaRPr/>
          </a:p>
        </p:txBody>
      </p:sp>
      <p:sp>
        <p:nvSpPr>
          <p:cNvPr id="263" name="Google Shape;263;p44"/>
          <p:cNvSpPr txBox="1">
            <a:spLocks noGrp="1"/>
          </p:cNvSpPr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</a:rPr>
              <a:t>A02a: A Comparative Analysis of Machine Learning and Deep Learning Tools and Frameworks</a:t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264" name="Google Shape;264;p44"/>
          <p:cNvSpPr txBox="1">
            <a:spLocks noGrp="1"/>
          </p:cNvSpPr>
          <p:nvPr>
            <p:ph type="subTitle" idx="2"/>
          </p:nvPr>
        </p:nvSpPr>
        <p:spPr>
          <a:xfrm>
            <a:off x="197375" y="1866450"/>
            <a:ext cx="3986700" cy="5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 dirty="0">
                <a:solidFill>
                  <a:srgbClr val="000000"/>
                </a:solidFill>
              </a:rPr>
              <a:t>TensorFlow vs PyTorch: A Comparative Analysis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 dirty="0">
                <a:solidFill>
                  <a:srgbClr val="000000"/>
                </a:solidFill>
              </a:rPr>
              <a:t>Group 5:</a:t>
            </a:r>
            <a:endParaRPr sz="1800" dirty="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Marvin Azuogu, Courtney Bernard, Joseph Hiller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 dirty="0">
                <a:solidFill>
                  <a:srgbClr val="000000"/>
                </a:solidFill>
              </a:rPr>
              <a:t>Course: ITAI-2376</a:t>
            </a:r>
            <a:endParaRPr sz="1800" dirty="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Instructor: Sitaram Ayyagari</a:t>
            </a:r>
            <a:endParaRPr sz="1800" dirty="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Date: October 4, 2025</a:t>
            </a:r>
            <a:endParaRPr sz="1800" dirty="0">
              <a:solidFill>
                <a:srgbClr val="000000"/>
              </a:solidFill>
            </a:endParaRPr>
          </a:p>
        </p:txBody>
      </p:sp>
      <p:pic>
        <p:nvPicPr>
          <p:cNvPr id="265" name="Google Shape;26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4075" y="1866450"/>
            <a:ext cx="4267068" cy="28461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  <a:endParaRPr sz="3600" b="1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1" name="Google Shape;271;p45"/>
          <p:cNvSpPr txBox="1"/>
          <p:nvPr/>
        </p:nvSpPr>
        <p:spPr>
          <a:xfrm>
            <a:off x="148650" y="1520250"/>
            <a:ext cx="3817500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This report compares two dominant deep learning frameworks: TensorFlow and PyTorch.</a:t>
            </a:r>
            <a:endParaRPr sz="15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TensorFlow focuses on production deployment and scalability. PyTorch emphasizes research flexibility and ease of use.</a:t>
            </a:r>
            <a:endParaRPr sz="15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Purpose: Evaluate origins, key technical features, real-world applications, usability, performance, support, and scalability.</a:t>
            </a:r>
            <a:endParaRPr sz="15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72" name="Google Shape;272;p45" title="6caf90fb-eb2c-41d1-9105-e946ee8ab0d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5175" y="1375739"/>
            <a:ext cx="4267350" cy="3200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6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Activities Performed</a:t>
            </a:r>
            <a:endParaRPr sz="3600" b="1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8" name="Google Shape;278;p46"/>
          <p:cNvSpPr txBox="1"/>
          <p:nvPr/>
        </p:nvSpPr>
        <p:spPr>
          <a:xfrm>
            <a:off x="579100" y="1706875"/>
            <a:ext cx="7635300" cy="23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Systematic review of resources and hands-on experimentation.</a:t>
            </a:r>
            <a:endParaRPr sz="1800" dirty="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Data preparation, model implementation, training, debugging, saving/loading models, benchmarking.</a:t>
            </a:r>
            <a:endParaRPr sz="1800" dirty="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Documented effects of static vs. dynamic graphs and tooling differences.</a:t>
            </a:r>
            <a:endParaRPr sz="1800" dirty="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  <a:hlinkClick r:id="rId3" action="ppaction://hlinkfi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 action="ppaction://hlinkfile"/>
              </a:rPr>
              <a:t> Notebook Link</a:t>
            </a:r>
            <a:r>
              <a:rPr lang="en" sz="1800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								</a:t>
            </a:r>
            <a:endParaRPr sz="1800" dirty="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79" name="Google Shape;27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5575" y="4001800"/>
            <a:ext cx="872475" cy="87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9950" y="3873323"/>
            <a:ext cx="2008194" cy="112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Background</a:t>
            </a:r>
            <a:endParaRPr sz="3600" b="1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6" name="Google Shape;286;p47"/>
          <p:cNvSpPr txBox="1"/>
          <p:nvPr/>
        </p:nvSpPr>
        <p:spPr>
          <a:xfrm>
            <a:off x="746750" y="1737350"/>
            <a:ext cx="7725600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 b="1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TensorFlow: </a:t>
            </a: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Developed by Google Brain Team in 2015; production-scale deployments, cross-platform compatibility, distributed training, industrial use.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 b="1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PyTorch:</a:t>
            </a: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 Developed by Meta AI Research in 2016; focuses on rapid research, flexible dynamic graphs, academic use, intuitive Python API.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87" name="Google Shape;28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7275" y="323163"/>
            <a:ext cx="2005626" cy="133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413" y="4176961"/>
            <a:ext cx="2773673" cy="55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8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Key Features</a:t>
            </a:r>
            <a:endParaRPr sz="3600" b="1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4" name="Google Shape;294;p48"/>
          <p:cNvSpPr txBox="1"/>
          <p:nvPr/>
        </p:nvSpPr>
        <p:spPr>
          <a:xfrm>
            <a:off x="746750" y="1737350"/>
            <a:ext cx="7635300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 b="1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TensorFlow:</a:t>
            </a: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 Deployment tools (Serving, Lite, JS), static graphs with eager execution, TensorBoard, TensorFlow Hub, XLA compiler.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 b="1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PyTorch:</a:t>
            </a: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 Dynamic define-by-run graphs, Pythonic API, strong debugging, PyTorch Lightning, fastai, Hugging Face integration, TorchScript.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3650" b="1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 &amp; Comparative Table</a:t>
            </a:r>
            <a:endParaRPr/>
          </a:p>
        </p:txBody>
      </p:sp>
      <p:sp>
        <p:nvSpPr>
          <p:cNvPr id="300" name="Google Shape;300;p49"/>
          <p:cNvSpPr txBox="1"/>
          <p:nvPr/>
        </p:nvSpPr>
        <p:spPr>
          <a:xfrm>
            <a:off x="746750" y="1737350"/>
            <a:ext cx="7635300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 b="1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TensorFlow Strengths:</a:t>
            </a: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 Production tools, mobile/edge support, browser ML, distributed training, visualization tools.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 b="1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PyTorch Strengths:</a:t>
            </a: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 Intuitive API, dynamic graphs, debugging, strong research community, emerging production tools.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0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 b="1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 &amp; Comparative Table</a:t>
            </a:r>
            <a:endParaRPr sz="3650" b="1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306" name="Google Shape;306;p50"/>
          <p:cNvGraphicFramePr/>
          <p:nvPr/>
        </p:nvGraphicFramePr>
        <p:xfrm>
          <a:off x="294313" y="146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{CEFAC101-5DF5-4D13-94E7-413F23D95547}</a:tableStyleId>
              </a:tblPr>
              <a:tblGrid>
                <a:gridCol w="168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Aspect</a:t>
                      </a:r>
                      <a:endParaRPr sz="1800" b="1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TensorFlow</a:t>
                      </a:r>
                      <a:endParaRPr sz="1800" b="1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PyTorch</a:t>
                      </a:r>
                      <a:endParaRPr sz="1800" b="1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Usability</a:t>
                      </a:r>
                      <a:endParaRPr sz="180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Steeper learning curve</a:t>
                      </a:r>
                      <a:endParaRPr sz="180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Intuitive, easier debugging</a:t>
                      </a:r>
                      <a:endParaRPr sz="180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Performance</a:t>
                      </a:r>
                      <a:endParaRPr sz="180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Optimized static graph</a:t>
                      </a:r>
                      <a:endParaRPr sz="180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Dynamic, competitive speed</a:t>
                      </a:r>
                      <a:endParaRPr sz="180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Support</a:t>
                      </a:r>
                      <a:endParaRPr sz="180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Enterprise, Google backing</a:t>
                      </a:r>
                      <a:endParaRPr sz="180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Research, Meta backing</a:t>
                      </a:r>
                      <a:endParaRPr sz="180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Scalability</a:t>
                      </a:r>
                      <a:endParaRPr sz="180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Mature deployment tools</a:t>
                      </a:r>
                      <a:endParaRPr sz="180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Emerging production solutions</a:t>
                      </a:r>
                      <a:endParaRPr sz="180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1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Real-World Applications</a:t>
            </a:r>
            <a:endParaRPr sz="3600" b="1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12" name="Google Shape;312;p51"/>
          <p:cNvSpPr txBox="1"/>
          <p:nvPr/>
        </p:nvSpPr>
        <p:spPr>
          <a:xfrm>
            <a:off x="746750" y="1737350"/>
            <a:ext cx="4069200" cy="31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Roboto"/>
              <a:buChar char="●"/>
            </a:pPr>
            <a:r>
              <a:rPr lang="en" sz="1600" b="1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TensorFlow:</a:t>
            </a:r>
            <a:r>
              <a:rPr lang="en" sz="16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 Airbnb (pricing/fraud detection), GE Healthcare (medical imaging), Coca-Cola (quality control), Twitter (recommendations).</a:t>
            </a:r>
            <a:endParaRPr sz="16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Roboto"/>
              <a:buChar char="●"/>
            </a:pPr>
            <a:r>
              <a:rPr lang="en" sz="1600" b="1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PyTorch: </a:t>
            </a:r>
            <a:r>
              <a:rPr lang="en" sz="16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Tesla (autopilot), Toyota Research (autonomous vehicles), Microsoft Azure Cognitive Services, OpenAI research models.</a:t>
            </a:r>
            <a:endParaRPr sz="16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13" name="Google Shape;31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1100" y="1676375"/>
            <a:ext cx="3513876" cy="281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2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Comparative Analysis</a:t>
            </a:r>
            <a:endParaRPr sz="3600" b="1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19" name="Google Shape;319;p52"/>
          <p:cNvSpPr txBox="1"/>
          <p:nvPr/>
        </p:nvSpPr>
        <p:spPr>
          <a:xfrm>
            <a:off x="746750" y="1737350"/>
            <a:ext cx="7635300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 b="1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Usability:</a:t>
            </a: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 PyTorch offers easier learning and debugging.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 b="1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Performance:</a:t>
            </a: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 Comparable; task-specific advantages.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 b="1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Community:</a:t>
            </a: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 TensorFlow strong industry presence; PyTorch leads research papers.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 b="1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Deployment: </a:t>
            </a: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TensorFlow more mature; PyTorch rapidly evolving.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3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Decision Framework</a:t>
            </a:r>
            <a:endParaRPr sz="3600" b="1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25" name="Google Shape;325;p53"/>
          <p:cNvSpPr txBox="1"/>
          <p:nvPr/>
        </p:nvSpPr>
        <p:spPr>
          <a:xfrm>
            <a:off x="746750" y="1737350"/>
            <a:ext cx="7635300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" sz="1800" b="1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TensorFlow</a:t>
            </a: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 for production, mobile, browser integration, enterprise scale, and Google Cloud native.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" sz="1800" b="1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PyTorch</a:t>
            </a: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 for research, rapid prototyping, flexible model design, and academic settings.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" sz="1800" b="1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Both</a:t>
            </a: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 for teams needing versatility and comprehensive ML skillsets.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4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 b="1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 sz="3650" b="1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31" name="Google Shape;331;p54"/>
          <p:cNvSpPr txBox="1"/>
          <p:nvPr/>
        </p:nvSpPr>
        <p:spPr>
          <a:xfrm>
            <a:off x="685800" y="1798300"/>
            <a:ext cx="7635300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TensorFlow and PyTorch complement each other: production-first vs. research-first philosophies.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The frameworks are converging; proficiency in both is beneficial.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Final recommendation: TensorFlow for production systems; PyTorch for research and development velocity.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5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References/Thank You/Q&amp;A</a:t>
            </a:r>
            <a:endParaRPr sz="3600" b="1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37" name="Google Shape;337;p55"/>
          <p:cNvSpPr txBox="1"/>
          <p:nvPr/>
        </p:nvSpPr>
        <p:spPr>
          <a:xfrm>
            <a:off x="754350" y="1520250"/>
            <a:ext cx="7635300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TensorFlow Official Documentation - tensorflow.org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PyTorch Official Documentation - pytorch.org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Papers with Code - Framework Usage Statistics (2024)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Google AI Blog - TensorFlow Development Updates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Meta AI Research Blog - PyTorch Releases and Features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Case Studies from Official Framework Websites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Industry Benchmarking Reports - MLPerf Results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Academic Papers Comparing Framework Performance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Developer Survey Data - Stack Overflow, GitHub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Framework Release Notes and Changelogs</a:t>
            </a:r>
            <a:endParaRPr sz="18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585</Words>
  <Application>Microsoft Office PowerPoint</Application>
  <PresentationFormat>On-screen Show (16:9)</PresentationFormat>
  <Paragraphs>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Roboto</vt:lpstr>
      <vt:lpstr>DM Sans</vt:lpstr>
      <vt:lpstr>Merriweather</vt:lpstr>
      <vt:lpstr>DM Sans Medium</vt:lpstr>
      <vt:lpstr>Arial</vt:lpstr>
      <vt:lpstr>Simple Light</vt:lpstr>
      <vt:lpstr>Science Presentation</vt:lpstr>
      <vt:lpstr>A02a: A Comparative Analysis of Machine Learning and Deep Learning Tools and Frameworks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joseph.hiller</dc:creator>
  <cp:lastModifiedBy>joseph.hiller</cp:lastModifiedBy>
  <cp:revision>2</cp:revision>
  <dcterms:modified xsi:type="dcterms:W3CDTF">2025-10-04T02:08:48Z</dcterms:modified>
</cp:coreProperties>
</file>